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047" userDrawn="1">
          <p15:clr>
            <a:srgbClr val="A4A3A4"/>
          </p15:clr>
        </p15:guide>
        <p15:guide id="2" pos="2887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C3D85"/>
    <a:srgbClr val="F4704E"/>
    <a:srgbClr val="009AA6"/>
    <a:srgbClr val="2069E1"/>
    <a:srgbClr val="5B46E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428"/>
    <p:restoredTop sz="94665"/>
  </p:normalViewPr>
  <p:slideViewPr>
    <p:cSldViewPr snapToGrid="0" snapToObjects="1">
      <p:cViewPr>
        <p:scale>
          <a:sx n="172" d="100"/>
          <a:sy n="172" d="100"/>
        </p:scale>
        <p:origin x="576" y="400"/>
      </p:cViewPr>
      <p:guideLst>
        <p:guide orient="horz" pos="2047"/>
        <p:guide pos="2887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5843E2D-00B6-6E46-8A5A-423A830B1AB7}" type="datetimeFigureOut">
              <a:rPr lang="en-US" smtClean="0"/>
              <a:t>8/19/26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95044AF-B143-224B-AA9A-0F2BC303F4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18755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5044AF-B143-224B-AA9A-0F2BC303F4EE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990908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98704"/>
            <a:ext cx="2285882" cy="115416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de-CH" sz="750" b="1" dirty="0">
                <a:solidFill>
                  <a:srgbClr val="696F7C"/>
                </a:solidFill>
                <a:latin typeface="DINPro-Regular" panose="020B0504020101020102" pitchFamily="34" charset="0"/>
              </a:rPr>
              <a:t>HUMAN TRUST EXPERIENCE </a:t>
            </a:r>
            <a:r>
              <a:rPr sz="750" b="1" dirty="0">
                <a:solidFill>
                  <a:srgbClr val="696F7C"/>
                </a:solidFill>
                <a:latin typeface="DINPro-Regular" panose="020B0504020101020102" pitchFamily="34" charset="0"/>
              </a:rPr>
              <a:t>DESIGN FRAMEWORK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6448"/>
            <a:ext cx="4945265" cy="338554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200" b="1">
                <a:solidFill>
                  <a:srgbClr val="141924"/>
                </a:solidFill>
                <a:latin typeface="DINPro-Regular" panose="020B0504020101020102" pitchFamily="34" charset="0"/>
              </a:rPr>
              <a:t>Human-Centered Experience Analysis</a:t>
            </a:r>
          </a:p>
        </p:txBody>
      </p:sp>
      <p:sp>
        <p:nvSpPr>
          <p:cNvPr id="5" name="Rectangle 4"/>
          <p:cNvSpPr/>
          <p:nvPr/>
        </p:nvSpPr>
        <p:spPr>
          <a:xfrm>
            <a:off x="1463040" y="1094232"/>
            <a:ext cx="1984248" cy="41148"/>
          </a:xfrm>
          <a:prstGeom prst="rect">
            <a:avLst/>
          </a:prstGeom>
          <a:solidFill>
            <a:srgbClr val="5B47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800">
              <a:latin typeface="DINPro-Regular" panose="020B0504020101020102" pitchFamily="3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463040" y="1194816"/>
            <a:ext cx="37350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00" b="1">
                <a:solidFill>
                  <a:srgbClr val="5B47E6"/>
                </a:solidFill>
                <a:latin typeface="DINPro-Regular" panose="020B0504020101020102" pitchFamily="34" charset="0"/>
              </a:rPr>
              <a:t>HUMAN</a:t>
            </a:r>
          </a:p>
        </p:txBody>
      </p:sp>
      <p:sp>
        <p:nvSpPr>
          <p:cNvPr id="7" name="Rectangle 6"/>
          <p:cNvSpPr/>
          <p:nvPr/>
        </p:nvSpPr>
        <p:spPr>
          <a:xfrm>
            <a:off x="3482534" y="1094232"/>
            <a:ext cx="2916000" cy="41148"/>
          </a:xfrm>
          <a:prstGeom prst="rect">
            <a:avLst/>
          </a:prstGeom>
          <a:solidFill>
            <a:srgbClr val="206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800">
              <a:latin typeface="DINPro-Regular" panose="020B0504020101020102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482534" y="1194816"/>
            <a:ext cx="45845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00" b="1">
                <a:solidFill>
                  <a:srgbClr val="2069E0"/>
                </a:solidFill>
                <a:latin typeface="DINPro-Regular" panose="020B0504020101020102" pitchFamily="34" charset="0"/>
              </a:rPr>
              <a:t>JOURNEY</a:t>
            </a:r>
          </a:p>
        </p:txBody>
      </p:sp>
      <p:sp>
        <p:nvSpPr>
          <p:cNvPr id="9" name="Rectangle 8"/>
          <p:cNvSpPr/>
          <p:nvPr/>
        </p:nvSpPr>
        <p:spPr>
          <a:xfrm>
            <a:off x="6429188" y="1094232"/>
            <a:ext cx="3221999" cy="41148"/>
          </a:xfrm>
          <a:prstGeom prst="rect">
            <a:avLst/>
          </a:prstGeom>
          <a:solidFill>
            <a:srgbClr val="009A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800" dirty="0">
              <a:latin typeface="DINPro-Regular" panose="020B0504020101020102" pitchFamily="34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429189" y="1194816"/>
            <a:ext cx="663643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00" b="1">
                <a:solidFill>
                  <a:srgbClr val="009AA6"/>
                </a:solidFill>
                <a:latin typeface="DINPro-Regular" panose="020B0504020101020102" pitchFamily="34" charset="0"/>
              </a:rPr>
              <a:t>INTERACTION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681040" y="1094232"/>
            <a:ext cx="982980" cy="41148"/>
          </a:xfrm>
          <a:prstGeom prst="rect">
            <a:avLst/>
          </a:prstGeom>
          <a:solidFill>
            <a:srgbClr val="F470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800">
              <a:latin typeface="DINPro-Regular" panose="020B0504020101020102" pitchFamily="34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9681040" y="1194816"/>
            <a:ext cx="38792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00" b="1">
                <a:solidFill>
                  <a:srgbClr val="F4704E"/>
                </a:solidFill>
                <a:latin typeface="DINPro-Regular" panose="020B0504020101020102" pitchFamily="34" charset="0"/>
              </a:rPr>
              <a:t>SYSTEM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691833" y="1094232"/>
            <a:ext cx="982980" cy="41148"/>
          </a:xfrm>
          <a:prstGeom prst="rect">
            <a:avLst/>
          </a:prstGeom>
          <a:solidFill>
            <a:srgbClr val="AC3E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800">
              <a:latin typeface="DINPro-Regular" panose="020B0504020101020102" pitchFamily="34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0691833" y="1194816"/>
            <a:ext cx="37350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00" b="1" dirty="0">
                <a:solidFill>
                  <a:srgbClr val="AC3E85"/>
                </a:solidFill>
                <a:latin typeface="DINPro-Regular" panose="020B0504020101020102" pitchFamily="34" charset="0"/>
              </a:rPr>
              <a:t>DESIGN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3040" y="1459992"/>
            <a:ext cx="375103" cy="415498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>
                <a:solidFill>
                  <a:srgbClr val="5B47E6"/>
                </a:solidFill>
                <a:latin typeface="DINPro-Regular" panose="020B0504020101020102" pitchFamily="34" charset="0"/>
              </a:rPr>
              <a:t>01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63040" y="1981200"/>
            <a:ext cx="806311" cy="123111"/>
          </a:xfrm>
          <a:prstGeom prst="rect">
            <a:avLst/>
          </a:prstGeom>
          <a:solidFill>
            <a:srgbClr val="5B46E6"/>
          </a:solidFill>
          <a:effectLst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de-CH" sz="800" b="1" dirty="0">
                <a:solidFill>
                  <a:schemeClr val="bg1"/>
                </a:solidFill>
                <a:latin typeface="DINPro-Regular" panose="020B0504020101020102" pitchFamily="34" charset="0"/>
              </a:rPr>
              <a:t> </a:t>
            </a:r>
            <a:r>
              <a:rPr sz="800" b="1" dirty="0">
                <a:solidFill>
                  <a:schemeClr val="bg1"/>
                </a:solidFill>
                <a:latin typeface="DINPro-Regular" panose="020B0504020101020102" pitchFamily="34" charset="0"/>
              </a:rPr>
              <a:t>SET THE STAGE</a:t>
            </a:r>
            <a:r>
              <a:rPr lang="de-CH" sz="800" b="1" dirty="0">
                <a:solidFill>
                  <a:schemeClr val="bg1"/>
                </a:solidFill>
                <a:latin typeface="DINPro-Regular" panose="020B0504020101020102" pitchFamily="34" charset="0"/>
              </a:rPr>
              <a:t> </a:t>
            </a:r>
            <a:endParaRPr sz="800" b="1" dirty="0">
              <a:solidFill>
                <a:schemeClr val="bg1"/>
              </a:solidFill>
              <a:latin typeface="DINPro-Regular" panose="020B0504020101020102" pitchFamily="34" charset="0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463040" y="2246376"/>
            <a:ext cx="213200" cy="104644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680" b="0">
                <a:solidFill>
                  <a:srgbClr val="696F7C"/>
                </a:solidFill>
                <a:latin typeface="DINPro-Regular" panose="020B0504020101020102" pitchFamily="34" charset="0"/>
              </a:rPr>
              <a:t>Who?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449194" y="1459992"/>
            <a:ext cx="375103" cy="415498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>
                <a:solidFill>
                  <a:srgbClr val="5B47E6"/>
                </a:solidFill>
                <a:latin typeface="DINPro-Regular" panose="020B0504020101020102" pitchFamily="34" charset="0"/>
              </a:rPr>
              <a:t>02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449194" y="1981200"/>
            <a:ext cx="934551" cy="123111"/>
          </a:xfrm>
          <a:prstGeom prst="rect">
            <a:avLst/>
          </a:prstGeom>
          <a:solidFill>
            <a:srgbClr val="5B46E6"/>
          </a:solidFill>
          <a:effectLst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de-CH" sz="800" b="1" dirty="0">
                <a:solidFill>
                  <a:schemeClr val="bg1"/>
                </a:solidFill>
                <a:latin typeface="DINPro-Regular" panose="020B0504020101020102" pitchFamily="34" charset="0"/>
              </a:rPr>
              <a:t> </a:t>
            </a:r>
            <a:r>
              <a:rPr sz="800" b="1" dirty="0">
                <a:solidFill>
                  <a:schemeClr val="bg1"/>
                </a:solidFill>
                <a:latin typeface="DINPro-Regular" panose="020B0504020101020102" pitchFamily="34" charset="0"/>
              </a:rPr>
              <a:t>DEFINE THE GOAL</a:t>
            </a:r>
            <a:r>
              <a:rPr lang="de-CH" sz="800" b="1" dirty="0">
                <a:solidFill>
                  <a:schemeClr val="bg1"/>
                </a:solidFill>
                <a:latin typeface="DINPro-Regular" panose="020B0504020101020102" pitchFamily="34" charset="0"/>
              </a:rPr>
              <a:t> </a:t>
            </a:r>
            <a:endParaRPr sz="800" b="1" dirty="0">
              <a:solidFill>
                <a:schemeClr val="bg1"/>
              </a:solidFill>
              <a:latin typeface="DINPro-Regular" panose="020B0504020101020102" pitchFamily="34" charset="0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2449194" y="2246376"/>
            <a:ext cx="205184" cy="104644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680" b="0">
                <a:solidFill>
                  <a:srgbClr val="696F7C"/>
                </a:solidFill>
                <a:latin typeface="DINPro-Regular" panose="020B0504020101020102" pitchFamily="34" charset="0"/>
              </a:rPr>
              <a:t>Why?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82534" y="1459992"/>
            <a:ext cx="375103" cy="415498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>
                <a:solidFill>
                  <a:srgbClr val="2069E0"/>
                </a:solidFill>
                <a:latin typeface="DINPro-Regular" panose="020B0504020101020102" pitchFamily="34" charset="0"/>
              </a:rP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82534" y="1981200"/>
            <a:ext cx="1053173" cy="123111"/>
          </a:xfrm>
          <a:prstGeom prst="rect">
            <a:avLst/>
          </a:prstGeom>
          <a:solidFill>
            <a:srgbClr val="2069E1"/>
          </a:solidFill>
          <a:effectLst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de-CH" sz="800" b="1" dirty="0">
                <a:solidFill>
                  <a:schemeClr val="bg1"/>
                </a:solidFill>
                <a:latin typeface="DINPro-Regular" panose="020B0504020101020102" pitchFamily="34" charset="0"/>
              </a:rPr>
              <a:t> </a:t>
            </a:r>
            <a:r>
              <a:rPr sz="800" b="1" dirty="0">
                <a:solidFill>
                  <a:schemeClr val="bg1"/>
                </a:solidFill>
                <a:latin typeface="DINPro-Regular" panose="020B0504020101020102" pitchFamily="34" charset="0"/>
              </a:rPr>
              <a:t>FRAME EXPERIENCE</a:t>
            </a:r>
            <a:r>
              <a:rPr lang="de-CH" sz="800" b="1" dirty="0">
                <a:solidFill>
                  <a:schemeClr val="bg1"/>
                </a:solidFill>
                <a:latin typeface="DINPro-Regular" panose="020B0504020101020102" pitchFamily="34" charset="0"/>
              </a:rPr>
              <a:t> </a:t>
            </a:r>
            <a:endParaRPr sz="800" b="1" dirty="0">
              <a:solidFill>
                <a:schemeClr val="bg1"/>
              </a:solidFill>
              <a:latin typeface="DINPro-Regular" panose="020B0504020101020102" pitchFamily="34" charset="0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3482534" y="2246376"/>
            <a:ext cx="580287" cy="104644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680" b="0">
                <a:solidFill>
                  <a:srgbClr val="696F7C"/>
                </a:solidFill>
                <a:latin typeface="DINPro-Regular" panose="020B0504020101020102" pitchFamily="34" charset="0"/>
              </a:rPr>
              <a:t>Where / when?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02779" y="1459992"/>
            <a:ext cx="375103" cy="415498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>
                <a:solidFill>
                  <a:srgbClr val="2069E0"/>
                </a:solidFill>
                <a:latin typeface="DINPro-Regular" panose="020B0504020101020102" pitchFamily="34" charset="0"/>
              </a:rP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02779" y="1981200"/>
            <a:ext cx="860813" cy="123111"/>
          </a:xfrm>
          <a:prstGeom prst="rect">
            <a:avLst/>
          </a:prstGeom>
          <a:solidFill>
            <a:srgbClr val="2069E1"/>
          </a:solidFill>
          <a:effectLst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de-CH" sz="800" b="1" dirty="0">
                <a:solidFill>
                  <a:schemeClr val="bg1"/>
                </a:solidFill>
                <a:latin typeface="DINPro-Regular" panose="020B0504020101020102" pitchFamily="34" charset="0"/>
              </a:rPr>
              <a:t> </a:t>
            </a:r>
            <a:r>
              <a:rPr sz="800" b="1" dirty="0">
                <a:solidFill>
                  <a:schemeClr val="bg1"/>
                </a:solidFill>
                <a:latin typeface="DINPro-Regular" panose="020B0504020101020102" pitchFamily="34" charset="0"/>
              </a:rPr>
              <a:t>TELL THE STORY</a:t>
            </a:r>
            <a:r>
              <a:rPr lang="de-CH" sz="800" b="1" dirty="0">
                <a:solidFill>
                  <a:schemeClr val="bg1"/>
                </a:solidFill>
                <a:latin typeface="DINPro-Regular" panose="020B0504020101020102" pitchFamily="34" charset="0"/>
              </a:rPr>
              <a:t> </a:t>
            </a:r>
            <a:endParaRPr sz="800" b="1" dirty="0">
              <a:solidFill>
                <a:schemeClr val="bg1"/>
              </a:solidFill>
              <a:latin typeface="DINPro-Regular" panose="020B0504020101020102" pitchFamily="34" charset="0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4602779" y="2246376"/>
            <a:ext cx="596317" cy="104644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680" b="0">
                <a:solidFill>
                  <a:srgbClr val="696F7C"/>
                </a:solidFill>
                <a:latin typeface="DINPro-Regular" panose="020B0504020101020102" pitchFamily="34" charset="0"/>
              </a:rPr>
              <a:t>What happens?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530413" y="1459992"/>
            <a:ext cx="375103" cy="415498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>
                <a:solidFill>
                  <a:srgbClr val="2069E0"/>
                </a:solidFill>
                <a:latin typeface="DINPro-Regular" panose="020B0504020101020102" pitchFamily="34" charset="0"/>
              </a:rP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530413" y="1981200"/>
            <a:ext cx="761427" cy="123111"/>
          </a:xfrm>
          <a:prstGeom prst="rect">
            <a:avLst/>
          </a:prstGeom>
          <a:solidFill>
            <a:srgbClr val="2069E1"/>
          </a:solidFill>
          <a:effectLst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de-CH" sz="800" b="1" dirty="0">
                <a:solidFill>
                  <a:schemeClr val="bg1"/>
                </a:solidFill>
                <a:latin typeface="DINPro-Regular" panose="020B0504020101020102" pitchFamily="34" charset="0"/>
              </a:rPr>
              <a:t> </a:t>
            </a:r>
            <a:r>
              <a:rPr sz="800" b="1" dirty="0">
                <a:solidFill>
                  <a:schemeClr val="bg1"/>
                </a:solidFill>
                <a:latin typeface="DINPro-Regular" panose="020B0504020101020102" pitchFamily="34" charset="0"/>
              </a:rPr>
              <a:t>HUMAN STATE</a:t>
            </a:r>
            <a:r>
              <a:rPr lang="de-CH" sz="800" b="1" dirty="0">
                <a:solidFill>
                  <a:schemeClr val="bg1"/>
                </a:solidFill>
                <a:latin typeface="DINPro-Regular" panose="020B0504020101020102" pitchFamily="34" charset="0"/>
              </a:rPr>
              <a:t> </a:t>
            </a:r>
            <a:endParaRPr sz="800" b="1" dirty="0">
              <a:solidFill>
                <a:schemeClr val="bg1"/>
              </a:solidFill>
              <a:latin typeface="DINPro-Regular" panose="020B0504020101020102" pitchFamily="34" charset="0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5530413" y="2246376"/>
            <a:ext cx="480901" cy="104644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680" b="0">
                <a:solidFill>
                  <a:srgbClr val="696F7C"/>
                </a:solidFill>
                <a:latin typeface="DINPro-Regular" panose="020B0504020101020102" pitchFamily="34" charset="0"/>
              </a:rPr>
              <a:t>What is felt?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29189" y="1459992"/>
            <a:ext cx="375103" cy="415498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>
                <a:solidFill>
                  <a:srgbClr val="009AA6"/>
                </a:solidFill>
                <a:latin typeface="DINPro-Regular" panose="020B0504020101020102" pitchFamily="34" charset="0"/>
              </a:rPr>
              <a:t>06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29189" y="1981200"/>
            <a:ext cx="1003480" cy="123111"/>
          </a:xfrm>
          <a:prstGeom prst="rect">
            <a:avLst/>
          </a:prstGeom>
          <a:solidFill>
            <a:srgbClr val="009AA6"/>
          </a:solidFill>
          <a:effectLst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de-CH" sz="800" b="1" dirty="0">
                <a:solidFill>
                  <a:schemeClr val="bg1"/>
                </a:solidFill>
                <a:latin typeface="DINPro-Regular" panose="020B0504020101020102" pitchFamily="34" charset="0"/>
              </a:rPr>
              <a:t> </a:t>
            </a:r>
            <a:r>
              <a:rPr sz="800" b="1" dirty="0">
                <a:solidFill>
                  <a:schemeClr val="bg1"/>
                </a:solidFill>
                <a:latin typeface="DINPro-Regular" panose="020B0504020101020102" pitchFamily="34" charset="0"/>
              </a:rPr>
              <a:t>MAP TOUCHPOINTS</a:t>
            </a:r>
            <a:r>
              <a:rPr lang="de-CH" sz="800" b="1" dirty="0">
                <a:solidFill>
                  <a:schemeClr val="bg1"/>
                </a:solidFill>
                <a:latin typeface="DINPro-Regular" panose="020B0504020101020102" pitchFamily="34" charset="0"/>
              </a:rPr>
              <a:t> </a:t>
            </a:r>
            <a:endParaRPr sz="800" b="1" dirty="0">
              <a:solidFill>
                <a:schemeClr val="bg1"/>
              </a:solidFill>
              <a:latin typeface="DINPro-Regular" panose="020B0504020101020102" pitchFamily="34" charset="0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6429189" y="2246376"/>
            <a:ext cx="605935" cy="104644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680" b="0">
                <a:solidFill>
                  <a:srgbClr val="696F7C"/>
                </a:solidFill>
                <a:latin typeface="DINPro-Regular" panose="020B0504020101020102" pitchFamily="34" charset="0"/>
              </a:rPr>
              <a:t>Where contact?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76177" y="1459992"/>
            <a:ext cx="375103" cy="415498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>
                <a:solidFill>
                  <a:srgbClr val="009AA6"/>
                </a:solidFill>
                <a:latin typeface="DINPro-Regular" panose="020B0504020101020102" pitchFamily="34" charset="0"/>
              </a:rPr>
              <a:t>07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476177" y="1981200"/>
            <a:ext cx="1158972" cy="123111"/>
          </a:xfrm>
          <a:prstGeom prst="rect">
            <a:avLst/>
          </a:prstGeom>
          <a:solidFill>
            <a:srgbClr val="009AA6"/>
          </a:solidFill>
          <a:effectLst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de-CH" sz="800" b="1" dirty="0">
                <a:solidFill>
                  <a:schemeClr val="bg1"/>
                </a:solidFill>
                <a:latin typeface="DINPro-Regular" panose="020B0504020101020102" pitchFamily="34" charset="0"/>
              </a:rPr>
              <a:t> </a:t>
            </a:r>
            <a:r>
              <a:rPr sz="800" b="1" dirty="0">
                <a:solidFill>
                  <a:schemeClr val="bg1"/>
                </a:solidFill>
                <a:latin typeface="DINPro-Regular" panose="020B0504020101020102" pitchFamily="34" charset="0"/>
              </a:rPr>
              <a:t>MODEL INTERACTIONS</a:t>
            </a:r>
            <a:r>
              <a:rPr lang="de-CH" sz="800" b="1" dirty="0">
                <a:solidFill>
                  <a:schemeClr val="bg1"/>
                </a:solidFill>
                <a:latin typeface="DINPro-Regular" panose="020B0504020101020102" pitchFamily="34" charset="0"/>
              </a:rPr>
              <a:t> </a:t>
            </a:r>
            <a:endParaRPr sz="800" b="1" dirty="0">
              <a:solidFill>
                <a:schemeClr val="bg1"/>
              </a:solidFill>
              <a:latin typeface="DINPro-Regular" panose="020B0504020101020102" pitchFamily="34" charset="0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7476177" y="2246376"/>
            <a:ext cx="506549" cy="104644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680" b="0">
                <a:solidFill>
                  <a:srgbClr val="696F7C"/>
                </a:solidFill>
                <a:latin typeface="DINPro-Regular" panose="020B0504020101020102" pitchFamily="34" charset="0"/>
              </a:rPr>
              <a:t>How exactly?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686045" y="1459992"/>
            <a:ext cx="375103" cy="415498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>
                <a:solidFill>
                  <a:srgbClr val="009AA6"/>
                </a:solidFill>
                <a:latin typeface="DINPro-Regular" panose="020B0504020101020102" pitchFamily="34" charset="0"/>
              </a:rPr>
              <a:t>08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686045" y="1981200"/>
            <a:ext cx="953787" cy="123111"/>
          </a:xfrm>
          <a:prstGeom prst="rect">
            <a:avLst/>
          </a:prstGeom>
          <a:solidFill>
            <a:srgbClr val="009AA6"/>
          </a:solidFill>
          <a:effectLst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de-CH" sz="800" b="1" dirty="0">
                <a:solidFill>
                  <a:schemeClr val="bg1"/>
                </a:solidFill>
                <a:latin typeface="DINPro-Regular" panose="020B0504020101020102" pitchFamily="34" charset="0"/>
              </a:rPr>
              <a:t> </a:t>
            </a:r>
            <a:r>
              <a:rPr sz="800" b="1" dirty="0">
                <a:solidFill>
                  <a:schemeClr val="bg1"/>
                </a:solidFill>
                <a:latin typeface="DINPro-Regular" panose="020B0504020101020102" pitchFamily="34" charset="0"/>
              </a:rPr>
              <a:t>ACTIONS &amp; NEEDS</a:t>
            </a:r>
            <a:r>
              <a:rPr lang="de-CH" sz="800" b="1" dirty="0">
                <a:solidFill>
                  <a:schemeClr val="bg1"/>
                </a:solidFill>
                <a:latin typeface="DINPro-Regular" panose="020B0504020101020102" pitchFamily="34" charset="0"/>
              </a:rPr>
              <a:t> </a:t>
            </a:r>
            <a:endParaRPr sz="800" b="1" dirty="0">
              <a:solidFill>
                <a:schemeClr val="bg1"/>
              </a:solidFill>
              <a:latin typeface="DINPro-Regular" panose="020B0504020101020102" pitchFamily="34" charset="0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8686045" y="2246376"/>
            <a:ext cx="637995" cy="104644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680" b="0">
                <a:solidFill>
                  <a:srgbClr val="696F7C"/>
                </a:solidFill>
                <a:latin typeface="DINPro-Regular" panose="020B0504020101020102" pitchFamily="34" charset="0"/>
              </a:rPr>
              <a:t>What is needed?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681040" y="1459992"/>
            <a:ext cx="375103" cy="415498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>
                <a:solidFill>
                  <a:srgbClr val="F4704E"/>
                </a:solidFill>
                <a:latin typeface="DINPro-Regular" panose="020B0504020101020102" pitchFamily="34" charset="0"/>
              </a:rPr>
              <a:t>09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681040" y="1981200"/>
            <a:ext cx="910506" cy="123111"/>
          </a:xfrm>
          <a:prstGeom prst="rect">
            <a:avLst/>
          </a:prstGeom>
          <a:solidFill>
            <a:srgbClr val="F4704E"/>
          </a:solidFill>
          <a:effectLst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de-CH" sz="800" b="1" dirty="0">
                <a:solidFill>
                  <a:schemeClr val="bg1"/>
                </a:solidFill>
                <a:latin typeface="DINPro-Regular" panose="020B0504020101020102" pitchFamily="34" charset="0"/>
              </a:rPr>
              <a:t> </a:t>
            </a:r>
            <a:r>
              <a:rPr sz="800" b="1" dirty="0">
                <a:solidFill>
                  <a:schemeClr val="bg1"/>
                </a:solidFill>
                <a:latin typeface="DINPro-Regular" panose="020B0504020101020102" pitchFamily="34" charset="0"/>
              </a:rPr>
              <a:t>MAP THE SYSTEM</a:t>
            </a:r>
            <a:r>
              <a:rPr lang="de-CH" sz="800" b="1" dirty="0">
                <a:solidFill>
                  <a:schemeClr val="bg1"/>
                </a:solidFill>
                <a:latin typeface="DINPro-Regular" panose="020B0504020101020102" pitchFamily="34" charset="0"/>
              </a:rPr>
              <a:t> </a:t>
            </a:r>
            <a:endParaRPr sz="800" b="1" dirty="0">
              <a:solidFill>
                <a:schemeClr val="bg1"/>
              </a:solidFill>
              <a:latin typeface="DINPro-Regular" panose="020B0504020101020102" pitchFamily="34" charset="0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9681040" y="2246376"/>
            <a:ext cx="644407" cy="104644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680" b="0">
                <a:solidFill>
                  <a:srgbClr val="696F7C"/>
                </a:solidFill>
                <a:latin typeface="DINPro-Regular" panose="020B0504020101020102" pitchFamily="34" charset="0"/>
              </a:rPr>
              <a:t>What enables it?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691833" y="1459992"/>
            <a:ext cx="375103" cy="415498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>
                <a:solidFill>
                  <a:srgbClr val="AC3E85"/>
                </a:solidFill>
                <a:latin typeface="DINPro-Regular" panose="020B0504020101020102" pitchFamily="34" charset="0"/>
              </a:rPr>
              <a:t>10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691833" y="1981200"/>
            <a:ext cx="1240724" cy="123111"/>
          </a:xfrm>
          <a:prstGeom prst="rect">
            <a:avLst/>
          </a:prstGeom>
          <a:solidFill>
            <a:srgbClr val="AC3D85"/>
          </a:solidFill>
          <a:effectLst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de-CH" sz="800" b="1" dirty="0">
                <a:solidFill>
                  <a:schemeClr val="bg1"/>
                </a:solidFill>
                <a:latin typeface="DINPro-Regular" panose="020B0504020101020102" pitchFamily="34" charset="0"/>
              </a:rPr>
              <a:t> </a:t>
            </a:r>
            <a:r>
              <a:rPr sz="800" b="1" dirty="0">
                <a:solidFill>
                  <a:schemeClr val="bg1"/>
                </a:solidFill>
                <a:latin typeface="DINPro-Regular" panose="020B0504020101020102" pitchFamily="34" charset="0"/>
              </a:rPr>
              <a:t>DESIGN REQUIREMENTS</a:t>
            </a:r>
            <a:r>
              <a:rPr lang="de-CH" sz="800" b="1" dirty="0">
                <a:solidFill>
                  <a:schemeClr val="bg1"/>
                </a:solidFill>
                <a:latin typeface="DINPro-Regular" panose="020B0504020101020102" pitchFamily="34" charset="0"/>
              </a:rPr>
              <a:t> </a:t>
            </a:r>
            <a:endParaRPr sz="800" b="1" dirty="0">
              <a:solidFill>
                <a:schemeClr val="bg1"/>
              </a:solidFill>
              <a:latin typeface="DINPro-Regular" panose="020B0504020101020102" pitchFamily="34" charset="0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10691833" y="2246376"/>
            <a:ext cx="591509" cy="104644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680" b="0">
                <a:solidFill>
                  <a:srgbClr val="696F7C"/>
                </a:solidFill>
                <a:latin typeface="DINPro-Regular" panose="020B0504020101020102" pitchFamily="34" charset="0"/>
              </a:rPr>
              <a:t>What changes?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502920" y="2493264"/>
            <a:ext cx="11183112" cy="0"/>
          </a:xfrm>
          <a:prstGeom prst="line">
            <a:avLst/>
          </a:prstGeom>
          <a:ln w="6985">
            <a:solidFill>
              <a:srgbClr val="DCE0E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502920" y="2575559"/>
            <a:ext cx="419987" cy="10310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670" b="1">
                <a:solidFill>
                  <a:srgbClr val="696F7C"/>
                </a:solidFill>
                <a:latin typeface="DINPro-Regular" panose="020B0504020101020102" pitchFamily="34" charset="0"/>
              </a:rPr>
              <a:t>QUESTION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463040" y="2575559"/>
            <a:ext cx="399148" cy="20774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675" b="0">
                <a:solidFill>
                  <a:srgbClr val="141924"/>
                </a:solidFill>
                <a:latin typeface="DINPro-Regular" panose="020B0504020101020102" pitchFamily="34" charset="0"/>
              </a:rPr>
              <a:t>Who is the
person?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449194" y="2575559"/>
            <a:ext cx="670055" cy="20774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675" b="0">
                <a:solidFill>
                  <a:srgbClr val="141924"/>
                </a:solidFill>
                <a:latin typeface="DINPro-Regular" panose="020B0504020101020102" pitchFamily="34" charset="0"/>
              </a:rPr>
              <a:t>What are they
trying to achieve?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482534" y="2575559"/>
            <a:ext cx="705321" cy="20774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675" b="0">
                <a:solidFill>
                  <a:srgbClr val="141924"/>
                </a:solidFill>
                <a:latin typeface="DINPro-Regular" panose="020B0504020101020102" pitchFamily="34" charset="0"/>
              </a:rPr>
              <a:t>Where does the
journey start/end?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602779" y="2575559"/>
            <a:ext cx="746999" cy="20774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675" b="0">
                <a:solidFill>
                  <a:srgbClr val="141924"/>
                </a:solidFill>
                <a:latin typeface="DINPro-Regular" panose="020B0504020101020102" pitchFamily="34" charset="0"/>
              </a:rPr>
              <a:t>What happens from
start to finish?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530413" y="2575559"/>
            <a:ext cx="790281" cy="20774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675" b="0">
                <a:solidFill>
                  <a:srgbClr val="141924"/>
                </a:solidFill>
                <a:latin typeface="DINPro-Regular" panose="020B0504020101020102" pitchFamily="34" charset="0"/>
              </a:rPr>
              <a:t>What happens inside
the person's mind?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429189" y="2575559"/>
            <a:ext cx="617157" cy="20774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675" b="0">
                <a:solidFill>
                  <a:srgbClr val="141924"/>
                </a:solidFill>
                <a:latin typeface="DINPro-Regular" panose="020B0504020101020102" pitchFamily="34" charset="0"/>
              </a:rPr>
              <a:t>Who / what do
they encounter?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476177" y="2575559"/>
            <a:ext cx="860813" cy="20774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675" b="0">
                <a:solidFill>
                  <a:srgbClr val="141924"/>
                </a:solidFill>
                <a:latin typeface="DINPro-Regular" panose="020B0504020101020102" pitchFamily="34" charset="0"/>
              </a:rPr>
              <a:t>How does each critical
interaction unfold?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686045" y="2575559"/>
            <a:ext cx="868828" cy="20774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675" b="0">
                <a:solidFill>
                  <a:srgbClr val="141924"/>
                </a:solidFill>
                <a:latin typeface="DINPro-Regular" panose="020B0504020101020102" pitchFamily="34" charset="0"/>
              </a:rPr>
              <a:t>What do they do and
need at each moment?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681040" y="2575559"/>
            <a:ext cx="807913" cy="20774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675" b="0">
                <a:solidFill>
                  <a:srgbClr val="141924"/>
                </a:solidFill>
                <a:latin typeface="DINPro-Regular" panose="020B0504020101020102" pitchFamily="34" charset="0"/>
              </a:rPr>
              <a:t>What makes the
experience possible?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0691833" y="2575559"/>
            <a:ext cx="960199" cy="20774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675" b="0">
                <a:solidFill>
                  <a:srgbClr val="141924"/>
                </a:solidFill>
                <a:latin typeface="DINPro-Regular" panose="020B0504020101020102" pitchFamily="34" charset="0"/>
              </a:rPr>
              <a:t>What should we improve,
build or protect?</a:t>
            </a:r>
          </a:p>
        </p:txBody>
      </p:sp>
      <p:cxnSp>
        <p:nvCxnSpPr>
          <p:cNvPr id="57" name="Connector 56"/>
          <p:cNvCxnSpPr/>
          <p:nvPr/>
        </p:nvCxnSpPr>
        <p:spPr>
          <a:xfrm>
            <a:off x="502920" y="3105912"/>
            <a:ext cx="11183112" cy="0"/>
          </a:xfrm>
          <a:prstGeom prst="line">
            <a:avLst/>
          </a:prstGeom>
          <a:ln w="6985">
            <a:solidFill>
              <a:srgbClr val="DCE0E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58" name="TextBox 57"/>
          <p:cNvSpPr txBox="1"/>
          <p:nvPr/>
        </p:nvSpPr>
        <p:spPr>
          <a:xfrm>
            <a:off x="502920" y="3188207"/>
            <a:ext cx="527388" cy="10310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670" b="1">
                <a:solidFill>
                  <a:srgbClr val="696F7C"/>
                </a:solidFill>
                <a:latin typeface="DINPro-Regular" panose="020B0504020101020102" pitchFamily="34" charset="0"/>
              </a:rPr>
              <a:t>DIMENSIONS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463040" y="3188207"/>
            <a:ext cx="436017" cy="40318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655" b="0">
                <a:solidFill>
                  <a:srgbClr val="141924"/>
                </a:solidFill>
                <a:latin typeface="DINPro-Regular" panose="020B0504020101020102" pitchFamily="34" charset="0"/>
              </a:rPr>
              <a:t>Persona
Context
Capabilities
Constraints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2449194" y="3188207"/>
            <a:ext cx="599523" cy="30239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655" b="0">
                <a:solidFill>
                  <a:srgbClr val="141924"/>
                </a:solidFill>
                <a:latin typeface="DINPro-Regular" panose="020B0504020101020102" pitchFamily="34" charset="0"/>
              </a:rPr>
              <a:t>Goal
Motivation
Success criteria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3482534" y="3188207"/>
            <a:ext cx="333425" cy="40318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655" b="0">
                <a:solidFill>
                  <a:srgbClr val="141924"/>
                </a:solidFill>
                <a:latin typeface="DINPro-Regular" panose="020B0504020101020102" pitchFamily="34" charset="0"/>
              </a:rPr>
              <a:t>Scenario
Trigger
Scope
Outcome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602779" y="3188207"/>
            <a:ext cx="509755" cy="40318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655" b="0">
                <a:solidFill>
                  <a:srgbClr val="141924"/>
                </a:solidFill>
                <a:latin typeface="DINPro-Regular" panose="020B0504020101020102" pitchFamily="34" charset="0"/>
              </a:rPr>
              <a:t>Stages
Sequence
Narrative
Key moments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530413" y="3188207"/>
            <a:ext cx="520976" cy="30239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655" b="0">
                <a:solidFill>
                  <a:srgbClr val="141924"/>
                </a:solidFill>
                <a:latin typeface="DINPro-Regular" panose="020B0504020101020102" pitchFamily="34" charset="0"/>
              </a:rPr>
              <a:t>Think · Feel
Know · Expect
Need · Trust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429189" y="3188207"/>
            <a:ext cx="434414" cy="503984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655" b="0">
                <a:solidFill>
                  <a:srgbClr val="141924"/>
                </a:solidFill>
                <a:latin typeface="DINPro-Regular" panose="020B0504020101020102" pitchFamily="34" charset="0"/>
              </a:rPr>
              <a:t>People
Channels
Interfaces
Information
Services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7476177" y="3188207"/>
            <a:ext cx="525785" cy="503984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655" b="0">
                <a:solidFill>
                  <a:srgbClr val="141924"/>
                </a:solidFill>
                <a:latin typeface="DINPro-Regular" panose="020B0504020101020102" pitchFamily="34" charset="0"/>
              </a:rPr>
              <a:t>Flows
Branches
Dependencies
Exceptions
Recovery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8686045" y="3188207"/>
            <a:ext cx="434414" cy="503984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655" b="0">
                <a:solidFill>
                  <a:srgbClr val="141924"/>
                </a:solidFill>
                <a:latin typeface="DINPro-Regular" panose="020B0504020101020102" pitchFamily="34" charset="0"/>
              </a:rPr>
              <a:t>Actions
Information
Decisions
Support
Friction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9681040" y="3188207"/>
            <a:ext cx="597921" cy="40318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655" b="0">
                <a:solidFill>
                  <a:srgbClr val="141924"/>
                </a:solidFill>
                <a:latin typeface="DINPro-Regular" panose="020B0504020101020102" pitchFamily="34" charset="0"/>
              </a:rPr>
              <a:t>Interfaces
Services · Data
Identity · Rules
Protocols · Infra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0691833" y="3188207"/>
            <a:ext cx="642805" cy="503984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655" b="0">
                <a:solidFill>
                  <a:srgbClr val="141924"/>
                </a:solidFill>
                <a:latin typeface="DINPro-Regular" panose="020B0504020101020102" pitchFamily="34" charset="0"/>
              </a:rPr>
              <a:t>Pain points
Moments of truth
Opportunities
Requirements
Principles</a:t>
            </a:r>
          </a:p>
        </p:txBody>
      </p:sp>
      <p:cxnSp>
        <p:nvCxnSpPr>
          <p:cNvPr id="69" name="Connector 68"/>
          <p:cNvCxnSpPr/>
          <p:nvPr/>
        </p:nvCxnSpPr>
        <p:spPr>
          <a:xfrm>
            <a:off x="502920" y="3974591"/>
            <a:ext cx="11183112" cy="0"/>
          </a:xfrm>
          <a:prstGeom prst="line">
            <a:avLst/>
          </a:prstGeom>
          <a:ln w="6985">
            <a:solidFill>
              <a:srgbClr val="DCE0E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70" name="TextBox 69"/>
          <p:cNvSpPr txBox="1"/>
          <p:nvPr/>
        </p:nvSpPr>
        <p:spPr>
          <a:xfrm>
            <a:off x="502920" y="4056887"/>
            <a:ext cx="221214" cy="10310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670" b="1">
                <a:solidFill>
                  <a:srgbClr val="696F7C"/>
                </a:solidFill>
                <a:latin typeface="DINPro-Regular" panose="020B0504020101020102" pitchFamily="34" charset="0"/>
              </a:rPr>
              <a:t>LENS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463040" y="4056887"/>
            <a:ext cx="447238" cy="20774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675" b="0">
                <a:solidFill>
                  <a:srgbClr val="141924"/>
                </a:solidFill>
                <a:latin typeface="DINPro-Regular" panose="020B0504020101020102" pitchFamily="34" charset="0"/>
              </a:rPr>
              <a:t>Persona /
user profile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2449194" y="4056887"/>
            <a:ext cx="488916" cy="20774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675" b="0">
                <a:solidFill>
                  <a:srgbClr val="141924"/>
                </a:solidFill>
                <a:latin typeface="DINPro-Regular" panose="020B0504020101020102" pitchFamily="34" charset="0"/>
              </a:rPr>
              <a:t>User needs /
JTBD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3482534" y="4056887"/>
            <a:ext cx="745397" cy="20774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675" b="0">
                <a:solidFill>
                  <a:srgbClr val="141924"/>
                </a:solidFill>
                <a:latin typeface="DINPro-Regular" panose="020B0504020101020102" pitchFamily="34" charset="0"/>
              </a:rPr>
              <a:t>Scenario /
experience framing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4602779" y="4056887"/>
            <a:ext cx="791883" cy="20774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675" b="0">
                <a:solidFill>
                  <a:srgbClr val="141924"/>
                </a:solidFill>
                <a:latin typeface="DINPro-Regular" panose="020B0504020101020102" pitchFamily="34" charset="0"/>
              </a:rPr>
              <a:t>Journey mapping /
experience narrative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5530413" y="4056887"/>
            <a:ext cx="735779" cy="20774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675" b="0">
                <a:solidFill>
                  <a:srgbClr val="141924"/>
                </a:solidFill>
                <a:latin typeface="DINPro-Regular" panose="020B0504020101020102" pitchFamily="34" charset="0"/>
              </a:rPr>
              <a:t>Empathy mapping /
mental models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429189" y="4056887"/>
            <a:ext cx="646011" cy="20774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675" b="0">
                <a:solidFill>
                  <a:srgbClr val="141924"/>
                </a:solidFill>
                <a:latin typeface="DINPro-Regular" panose="020B0504020101020102" pitchFamily="34" charset="0"/>
              </a:rPr>
              <a:t>Journey map /
service blueprint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7476177" y="4056887"/>
            <a:ext cx="641201" cy="20774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675" b="0">
                <a:solidFill>
                  <a:srgbClr val="141924"/>
                </a:solidFill>
                <a:latin typeface="DINPro-Regular" panose="020B0504020101020102" pitchFamily="34" charset="0"/>
              </a:rPr>
              <a:t>Task analysis /
interaction flows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8686045" y="4056887"/>
            <a:ext cx="453650" cy="20774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675" b="0">
                <a:solidFill>
                  <a:srgbClr val="141924"/>
                </a:solidFill>
                <a:latin typeface="DINPro-Regular" panose="020B0504020101020102" pitchFamily="34" charset="0"/>
              </a:rPr>
              <a:t>User-needs
mapping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9681040" y="4056887"/>
            <a:ext cx="705321" cy="20774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675" b="0">
                <a:solidFill>
                  <a:srgbClr val="141924"/>
                </a:solidFill>
                <a:latin typeface="DINPro-Regular" panose="020B0504020101020102" pitchFamily="34" charset="0"/>
              </a:rPr>
              <a:t>Service blueprint /
system mapping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10691833" y="4056887"/>
            <a:ext cx="788677" cy="20774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675" b="0">
                <a:solidFill>
                  <a:srgbClr val="141924"/>
                </a:solidFill>
                <a:latin typeface="DINPro-Regular" panose="020B0504020101020102" pitchFamily="34" charset="0"/>
              </a:rPr>
              <a:t>UX synthesis /
opportunity mapping</a:t>
            </a:r>
          </a:p>
        </p:txBody>
      </p:sp>
      <p:cxnSp>
        <p:nvCxnSpPr>
          <p:cNvPr id="81" name="Connector 80"/>
          <p:cNvCxnSpPr/>
          <p:nvPr/>
        </p:nvCxnSpPr>
        <p:spPr>
          <a:xfrm>
            <a:off x="502920" y="4651248"/>
            <a:ext cx="11183112" cy="0"/>
          </a:xfrm>
          <a:prstGeom prst="line">
            <a:avLst/>
          </a:prstGeom>
          <a:ln w="6985">
            <a:solidFill>
              <a:srgbClr val="DCE0E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82" name="TextBox 81"/>
          <p:cNvSpPr txBox="1"/>
          <p:nvPr/>
        </p:nvSpPr>
        <p:spPr>
          <a:xfrm>
            <a:off x="502920" y="4733544"/>
            <a:ext cx="331822" cy="10310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670" b="1">
                <a:solidFill>
                  <a:srgbClr val="696F7C"/>
                </a:solidFill>
                <a:latin typeface="DINPro-Regular" panose="020B0504020101020102" pitchFamily="34" charset="0"/>
              </a:rPr>
              <a:t>OUTPUT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1463040" y="4733544"/>
            <a:ext cx="862416" cy="10387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en-US" sz="675" dirty="0">
                <a:solidFill>
                  <a:srgbClr val="141924"/>
                </a:solidFill>
                <a:latin typeface="DINPro-Regular" panose="020B0504020101020102" pitchFamily="34" charset="0"/>
              </a:rPr>
              <a:t>PERSONA &amp; CONTEXT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2449194" y="4733544"/>
            <a:ext cx="694101" cy="20774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en-US" sz="675" dirty="0">
                <a:solidFill>
                  <a:srgbClr val="141924"/>
                </a:solidFill>
                <a:latin typeface="DINPro-Regular" panose="020B0504020101020102" pitchFamily="34" charset="0"/>
              </a:rPr>
              <a:t>GOAL &amp; SUCCESS
CRITERIA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3482534" y="4733544"/>
            <a:ext cx="783869" cy="10387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en-US" sz="675" dirty="0">
                <a:solidFill>
                  <a:srgbClr val="141924"/>
                </a:solidFill>
                <a:latin typeface="DINPro-Regular" panose="020B0504020101020102" pitchFamily="34" charset="0"/>
              </a:rPr>
              <a:t>SCENARIO &amp; SCOPE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4602779" y="4733544"/>
            <a:ext cx="706925" cy="10387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en-US" sz="675" dirty="0">
                <a:solidFill>
                  <a:srgbClr val="141924"/>
                </a:solidFill>
                <a:latin typeface="DINPro-Regular" panose="020B0504020101020102" pitchFamily="34" charset="0"/>
              </a:rPr>
              <a:t>JOURNEY STAGES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5530413" y="4733544"/>
            <a:ext cx="795089" cy="10387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en-US" sz="675" dirty="0">
                <a:solidFill>
                  <a:srgbClr val="141924"/>
                </a:solidFill>
                <a:latin typeface="DINPro-Regular" panose="020B0504020101020102" pitchFamily="34" charset="0"/>
              </a:rPr>
              <a:t>HUMAN-STATE MAP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6429189" y="4733544"/>
            <a:ext cx="610745" cy="20774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en-US" sz="675" dirty="0">
                <a:solidFill>
                  <a:srgbClr val="141924"/>
                </a:solidFill>
                <a:latin typeface="DINPro-Regular" panose="020B0504020101020102" pitchFamily="34" charset="0"/>
              </a:rPr>
              <a:t>TOUCHPOINT &amp;
ACTOR MAP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7476177" y="4733544"/>
            <a:ext cx="601127" cy="20774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en-US" sz="675" dirty="0">
                <a:solidFill>
                  <a:srgbClr val="141924"/>
                </a:solidFill>
                <a:latin typeface="DINPro-Regular" panose="020B0504020101020102" pitchFamily="34" charset="0"/>
              </a:rPr>
              <a:t>SEQUENTIAL /
ACTION GRAPH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8686045" y="4733544"/>
            <a:ext cx="732573" cy="20774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en-US" sz="675" dirty="0">
                <a:solidFill>
                  <a:srgbClr val="141924"/>
                </a:solidFill>
                <a:latin typeface="DINPro-Regular" panose="020B0504020101020102" pitchFamily="34" charset="0"/>
              </a:rPr>
              <a:t>ACTIONS &amp; NEEDS
MATRIX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9681040" y="4733544"/>
            <a:ext cx="545021" cy="20774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en-US" sz="675" dirty="0">
                <a:solidFill>
                  <a:srgbClr val="141924"/>
                </a:solidFill>
                <a:latin typeface="DINPro-Regular" panose="020B0504020101020102" pitchFamily="34" charset="0"/>
              </a:rPr>
              <a:t>TECHNICAL &amp;
SERVICE MAP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10691833" y="4733544"/>
            <a:ext cx="965008" cy="10387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en-US" sz="675" dirty="0">
                <a:solidFill>
                  <a:srgbClr val="141924"/>
                </a:solidFill>
                <a:latin typeface="DINPro-Regular" panose="020B0504020101020102" pitchFamily="34" charset="0"/>
              </a:rPr>
              <a:t>DESIGN REQUIREMENTS</a:t>
            </a:r>
          </a:p>
        </p:txBody>
      </p:sp>
      <p:cxnSp>
        <p:nvCxnSpPr>
          <p:cNvPr id="114" name="Connector 92">
            <a:extLst>
              <a:ext uri="{FF2B5EF4-FFF2-40B4-BE49-F238E27FC236}">
                <a16:creationId xmlns:a16="http://schemas.microsoft.com/office/drawing/2014/main" id="{1F513652-B889-C28E-3D79-FAE27638B26F}"/>
              </a:ext>
            </a:extLst>
          </p:cNvPr>
          <p:cNvCxnSpPr/>
          <p:nvPr/>
        </p:nvCxnSpPr>
        <p:spPr>
          <a:xfrm>
            <a:off x="502920" y="5291328"/>
            <a:ext cx="11183112" cy="0"/>
          </a:xfrm>
          <a:prstGeom prst="line">
            <a:avLst/>
          </a:prstGeom>
          <a:ln w="6350">
            <a:solidFill>
              <a:srgbClr val="DCE0E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15" name="TextBox 114">
            <a:extLst>
              <a:ext uri="{FF2B5EF4-FFF2-40B4-BE49-F238E27FC236}">
                <a16:creationId xmlns:a16="http://schemas.microsoft.com/office/drawing/2014/main" id="{AFEEFA08-76E4-C5E5-0FFB-85411161766C}"/>
              </a:ext>
            </a:extLst>
          </p:cNvPr>
          <p:cNvSpPr txBox="1"/>
          <p:nvPr/>
        </p:nvSpPr>
        <p:spPr>
          <a:xfrm>
            <a:off x="502920" y="5382768"/>
            <a:ext cx="564257" cy="20005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650" b="1">
                <a:solidFill>
                  <a:srgbClr val="696F7C"/>
                </a:solidFill>
                <a:latin typeface="DINPro-Regular" panose="020B0504020101020102" pitchFamily="34" charset="0"/>
              </a:rPr>
              <a:t>ILLUSTRATIVE
FINDINGS</a:t>
            </a:r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7427856D-DEF5-39B4-3AC1-3AE3395C13AE}"/>
              </a:ext>
            </a:extLst>
          </p:cNvPr>
          <p:cNvSpPr txBox="1"/>
          <p:nvPr/>
        </p:nvSpPr>
        <p:spPr>
          <a:xfrm>
            <a:off x="1463040" y="5355336"/>
            <a:ext cx="2593659" cy="10310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670" b="0">
                <a:solidFill>
                  <a:srgbClr val="696F7C"/>
                </a:solidFill>
                <a:latin typeface="DINPro-Regular" panose="020B0504020101020102" pitchFamily="34" charset="0"/>
              </a:rPr>
              <a:t>Evidence status is attached to individual findings — examples below.</a:t>
            </a:r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F62C8E4D-BA85-38D8-0F11-A22928FADDAD}"/>
              </a:ext>
            </a:extLst>
          </p:cNvPr>
          <p:cNvSpPr txBox="1"/>
          <p:nvPr/>
        </p:nvSpPr>
        <p:spPr>
          <a:xfrm>
            <a:off x="1463040" y="5611368"/>
            <a:ext cx="471283" cy="9387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610">
                <a:solidFill>
                  <a:srgbClr val="141924"/>
                </a:solidFill>
                <a:latin typeface="DINPro-Regular" panose="020B0504020101020102" pitchFamily="34" charset="0"/>
              </a:rPr>
              <a:t>● OBSERVED</a:t>
            </a:r>
          </a:p>
        </p:txBody>
      </p:sp>
      <p:sp>
        <p:nvSpPr>
          <p:cNvPr id="118" name="TextBox 117">
            <a:extLst>
              <a:ext uri="{FF2B5EF4-FFF2-40B4-BE49-F238E27FC236}">
                <a16:creationId xmlns:a16="http://schemas.microsoft.com/office/drawing/2014/main" id="{B39AD57A-5A4A-CC05-43EC-56B2FE64901E}"/>
              </a:ext>
            </a:extLst>
          </p:cNvPr>
          <p:cNvSpPr txBox="1"/>
          <p:nvPr/>
        </p:nvSpPr>
        <p:spPr>
          <a:xfrm>
            <a:off x="1463041" y="5803392"/>
            <a:ext cx="699554" cy="276999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600" b="0" dirty="0">
                <a:solidFill>
                  <a:srgbClr val="696F7C"/>
                </a:solidFill>
                <a:latin typeface="DINPro-Regular" panose="020B0504020101020102" pitchFamily="34" charset="0"/>
              </a:rPr>
              <a:t>Persona interview:
user checks requested data.</a:t>
            </a:r>
          </a:p>
        </p:txBody>
      </p:sp>
      <p:sp>
        <p:nvSpPr>
          <p:cNvPr id="119" name="TextBox 118">
            <a:extLst>
              <a:ext uri="{FF2B5EF4-FFF2-40B4-BE49-F238E27FC236}">
                <a16:creationId xmlns:a16="http://schemas.microsoft.com/office/drawing/2014/main" id="{CABC0CC1-F8AF-46CC-5D8B-A1E1ABA12EDE}"/>
              </a:ext>
            </a:extLst>
          </p:cNvPr>
          <p:cNvSpPr txBox="1"/>
          <p:nvPr/>
        </p:nvSpPr>
        <p:spPr>
          <a:xfrm>
            <a:off x="2449194" y="5611368"/>
            <a:ext cx="471283" cy="9387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610">
                <a:solidFill>
                  <a:srgbClr val="141924"/>
                </a:solidFill>
                <a:latin typeface="DINPro-Regular" panose="020B0504020101020102" pitchFamily="34" charset="0"/>
              </a:rPr>
              <a:t>● OBSERVED</a:t>
            </a:r>
          </a:p>
        </p:txBody>
      </p:sp>
      <p:sp>
        <p:nvSpPr>
          <p:cNvPr id="120" name="TextBox 119">
            <a:extLst>
              <a:ext uri="{FF2B5EF4-FFF2-40B4-BE49-F238E27FC236}">
                <a16:creationId xmlns:a16="http://schemas.microsoft.com/office/drawing/2014/main" id="{2389BB2C-7519-CFEF-3D54-00D63FE672FA}"/>
              </a:ext>
            </a:extLst>
          </p:cNvPr>
          <p:cNvSpPr txBox="1"/>
          <p:nvPr/>
        </p:nvSpPr>
        <p:spPr>
          <a:xfrm>
            <a:off x="2449194" y="5803392"/>
            <a:ext cx="763029" cy="184666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600" b="0">
                <a:solidFill>
                  <a:srgbClr val="696F7C"/>
                </a:solidFill>
                <a:latin typeface="DINPro-Regular" panose="020B0504020101020102" pitchFamily="34" charset="0"/>
              </a:rPr>
              <a:t>User pauses before
approving the request.</a:t>
            </a:r>
          </a:p>
        </p:txBody>
      </p:sp>
      <p:sp>
        <p:nvSpPr>
          <p:cNvPr id="121" name="TextBox 120">
            <a:extLst>
              <a:ext uri="{FF2B5EF4-FFF2-40B4-BE49-F238E27FC236}">
                <a16:creationId xmlns:a16="http://schemas.microsoft.com/office/drawing/2014/main" id="{262FA9E3-166C-E450-0CCD-D8991140A00B}"/>
              </a:ext>
            </a:extLst>
          </p:cNvPr>
          <p:cNvSpPr txBox="1"/>
          <p:nvPr/>
        </p:nvSpPr>
        <p:spPr>
          <a:xfrm>
            <a:off x="3482534" y="5611368"/>
            <a:ext cx="436017" cy="9387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610">
                <a:solidFill>
                  <a:srgbClr val="141924"/>
                </a:solidFill>
                <a:latin typeface="DINPro-Regular" panose="020B0504020101020102" pitchFamily="34" charset="0"/>
              </a:rPr>
              <a:t>○ ASSUMED</a:t>
            </a:r>
          </a:p>
        </p:txBody>
      </p:sp>
      <p:sp>
        <p:nvSpPr>
          <p:cNvPr id="122" name="TextBox 121">
            <a:extLst>
              <a:ext uri="{FF2B5EF4-FFF2-40B4-BE49-F238E27FC236}">
                <a16:creationId xmlns:a16="http://schemas.microsoft.com/office/drawing/2014/main" id="{8A8BF16E-1D91-7E70-BD27-BB013F421F95}"/>
              </a:ext>
            </a:extLst>
          </p:cNvPr>
          <p:cNvSpPr txBox="1"/>
          <p:nvPr/>
        </p:nvSpPr>
        <p:spPr>
          <a:xfrm>
            <a:off x="3482534" y="5803392"/>
            <a:ext cx="695703" cy="184666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600" b="0">
                <a:solidFill>
                  <a:srgbClr val="696F7C"/>
                </a:solidFill>
                <a:latin typeface="DINPro-Regular" panose="020B0504020101020102" pitchFamily="34" charset="0"/>
              </a:rPr>
              <a:t>Users expect a clear
start and end state.</a:t>
            </a:r>
          </a:p>
        </p:txBody>
      </p:sp>
      <p:sp>
        <p:nvSpPr>
          <p:cNvPr id="123" name="TextBox 122">
            <a:extLst>
              <a:ext uri="{FF2B5EF4-FFF2-40B4-BE49-F238E27FC236}">
                <a16:creationId xmlns:a16="http://schemas.microsoft.com/office/drawing/2014/main" id="{7EE523EA-21F3-9279-3A86-5E86D034DD44}"/>
              </a:ext>
            </a:extLst>
          </p:cNvPr>
          <p:cNvSpPr txBox="1"/>
          <p:nvPr/>
        </p:nvSpPr>
        <p:spPr>
          <a:xfrm>
            <a:off x="4602779" y="5611368"/>
            <a:ext cx="471283" cy="9387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610">
                <a:solidFill>
                  <a:srgbClr val="141924"/>
                </a:solidFill>
                <a:latin typeface="DINPro-Regular" panose="020B0504020101020102" pitchFamily="34" charset="0"/>
              </a:rPr>
              <a:t>● OBSERVED</a:t>
            </a:r>
          </a:p>
        </p:txBody>
      </p:sp>
      <p:sp>
        <p:nvSpPr>
          <p:cNvPr id="124" name="TextBox 123">
            <a:extLst>
              <a:ext uri="{FF2B5EF4-FFF2-40B4-BE49-F238E27FC236}">
                <a16:creationId xmlns:a16="http://schemas.microsoft.com/office/drawing/2014/main" id="{8528DD64-B5E1-1ED0-5960-F37BB1B8F338}"/>
              </a:ext>
            </a:extLst>
          </p:cNvPr>
          <p:cNvSpPr txBox="1"/>
          <p:nvPr/>
        </p:nvSpPr>
        <p:spPr>
          <a:xfrm>
            <a:off x="4602779" y="5803392"/>
            <a:ext cx="724557" cy="184666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600" b="0">
                <a:solidFill>
                  <a:srgbClr val="696F7C"/>
                </a:solidFill>
                <a:latin typeface="DINPro-Regular" panose="020B0504020101020102" pitchFamily="34" charset="0"/>
              </a:rPr>
              <a:t>Users abandon at the
verification step.</a:t>
            </a:r>
          </a:p>
        </p:txBody>
      </p:sp>
      <p:sp>
        <p:nvSpPr>
          <p:cNvPr id="125" name="TextBox 124">
            <a:extLst>
              <a:ext uri="{FF2B5EF4-FFF2-40B4-BE49-F238E27FC236}">
                <a16:creationId xmlns:a16="http://schemas.microsoft.com/office/drawing/2014/main" id="{EB9CD3C6-D969-D8DF-659C-A840A72C4603}"/>
              </a:ext>
            </a:extLst>
          </p:cNvPr>
          <p:cNvSpPr txBox="1"/>
          <p:nvPr/>
        </p:nvSpPr>
        <p:spPr>
          <a:xfrm>
            <a:off x="5530413" y="5611368"/>
            <a:ext cx="474489" cy="9387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610">
                <a:solidFill>
                  <a:srgbClr val="141924"/>
                </a:solidFill>
                <a:latin typeface="DINPro-Regular" panose="020B0504020101020102" pitchFamily="34" charset="0"/>
              </a:rPr>
              <a:t>◐ INFERRED</a:t>
            </a:r>
          </a:p>
        </p:txBody>
      </p:sp>
      <p:sp>
        <p:nvSpPr>
          <p:cNvPr id="126" name="TextBox 125">
            <a:extLst>
              <a:ext uri="{FF2B5EF4-FFF2-40B4-BE49-F238E27FC236}">
                <a16:creationId xmlns:a16="http://schemas.microsoft.com/office/drawing/2014/main" id="{24DEE619-8BE1-8EE1-7D3C-D506F5F8AA3A}"/>
              </a:ext>
            </a:extLst>
          </p:cNvPr>
          <p:cNvSpPr txBox="1"/>
          <p:nvPr/>
        </p:nvSpPr>
        <p:spPr>
          <a:xfrm>
            <a:off x="5530413" y="5803392"/>
            <a:ext cx="860813" cy="184666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600" b="0">
                <a:solidFill>
                  <a:srgbClr val="696F7C"/>
                </a:solidFill>
                <a:latin typeface="DINPro-Regular" panose="020B0504020101020102" pitchFamily="34" charset="0"/>
              </a:rPr>
              <a:t>User may not understand
why all data is needed.</a:t>
            </a:r>
          </a:p>
        </p:txBody>
      </p:sp>
      <p:sp>
        <p:nvSpPr>
          <p:cNvPr id="127" name="TextBox 126">
            <a:extLst>
              <a:ext uri="{FF2B5EF4-FFF2-40B4-BE49-F238E27FC236}">
                <a16:creationId xmlns:a16="http://schemas.microsoft.com/office/drawing/2014/main" id="{EB3EC05A-2EA2-061B-FF4D-42807F9C9641}"/>
              </a:ext>
            </a:extLst>
          </p:cNvPr>
          <p:cNvSpPr txBox="1"/>
          <p:nvPr/>
        </p:nvSpPr>
        <p:spPr>
          <a:xfrm>
            <a:off x="6429189" y="5611368"/>
            <a:ext cx="474489" cy="9387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610">
                <a:solidFill>
                  <a:srgbClr val="141924"/>
                </a:solidFill>
                <a:latin typeface="DINPro-Regular" panose="020B0504020101020102" pitchFamily="34" charset="0"/>
              </a:rPr>
              <a:t>◐ INFERRED</a:t>
            </a:r>
          </a:p>
        </p:txBody>
      </p:sp>
      <p:sp>
        <p:nvSpPr>
          <p:cNvPr id="128" name="TextBox 127">
            <a:extLst>
              <a:ext uri="{FF2B5EF4-FFF2-40B4-BE49-F238E27FC236}">
                <a16:creationId xmlns:a16="http://schemas.microsoft.com/office/drawing/2014/main" id="{621CA323-A69D-91D6-9542-78C7B549D041}"/>
              </a:ext>
            </a:extLst>
          </p:cNvPr>
          <p:cNvSpPr txBox="1"/>
          <p:nvPr/>
        </p:nvSpPr>
        <p:spPr>
          <a:xfrm>
            <a:off x="6429189" y="5803392"/>
            <a:ext cx="872034" cy="184666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600" b="0">
                <a:solidFill>
                  <a:srgbClr val="696F7C"/>
                </a:solidFill>
                <a:latin typeface="DINPro-Regular" panose="020B0504020101020102" pitchFamily="34" charset="0"/>
              </a:rPr>
              <a:t>User may confuse service
and external verifier.</a:t>
            </a:r>
          </a:p>
        </p:txBody>
      </p:sp>
      <p:sp>
        <p:nvSpPr>
          <p:cNvPr id="129" name="TextBox 128">
            <a:extLst>
              <a:ext uri="{FF2B5EF4-FFF2-40B4-BE49-F238E27FC236}">
                <a16:creationId xmlns:a16="http://schemas.microsoft.com/office/drawing/2014/main" id="{402760D0-9058-50C9-6C3E-5AE217920E39}"/>
              </a:ext>
            </a:extLst>
          </p:cNvPr>
          <p:cNvSpPr txBox="1"/>
          <p:nvPr/>
        </p:nvSpPr>
        <p:spPr>
          <a:xfrm>
            <a:off x="7476177" y="5611368"/>
            <a:ext cx="471283" cy="9387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610" dirty="0">
                <a:solidFill>
                  <a:srgbClr val="141924"/>
                </a:solidFill>
                <a:latin typeface="DINPro-Regular" panose="020B0504020101020102" pitchFamily="34" charset="0"/>
              </a:rPr>
              <a:t>● OBSERVED</a:t>
            </a:r>
          </a:p>
        </p:txBody>
      </p:sp>
      <p:sp>
        <p:nvSpPr>
          <p:cNvPr id="130" name="TextBox 129">
            <a:extLst>
              <a:ext uri="{FF2B5EF4-FFF2-40B4-BE49-F238E27FC236}">
                <a16:creationId xmlns:a16="http://schemas.microsoft.com/office/drawing/2014/main" id="{4565DE74-5247-17A1-3B63-B0F88B172EC1}"/>
              </a:ext>
            </a:extLst>
          </p:cNvPr>
          <p:cNvSpPr txBox="1"/>
          <p:nvPr/>
        </p:nvSpPr>
        <p:spPr>
          <a:xfrm>
            <a:off x="7476177" y="5803392"/>
            <a:ext cx="920124" cy="184666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600" b="0">
                <a:solidFill>
                  <a:srgbClr val="696F7C"/>
                </a:solidFill>
                <a:latin typeface="DINPro-Regular" panose="020B0504020101020102" pitchFamily="34" charset="0"/>
              </a:rPr>
              <a:t>User opens “Why needed?”
before continuing.</a:t>
            </a:r>
          </a:p>
        </p:txBody>
      </p:sp>
      <p:sp>
        <p:nvSpPr>
          <p:cNvPr id="131" name="TextBox 130">
            <a:extLst>
              <a:ext uri="{FF2B5EF4-FFF2-40B4-BE49-F238E27FC236}">
                <a16:creationId xmlns:a16="http://schemas.microsoft.com/office/drawing/2014/main" id="{5B09048E-B104-9521-5F68-20F4A24BD51C}"/>
              </a:ext>
            </a:extLst>
          </p:cNvPr>
          <p:cNvSpPr txBox="1"/>
          <p:nvPr/>
        </p:nvSpPr>
        <p:spPr>
          <a:xfrm>
            <a:off x="8677330" y="5611368"/>
            <a:ext cx="436017" cy="9387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610">
                <a:solidFill>
                  <a:srgbClr val="141924"/>
                </a:solidFill>
                <a:latin typeface="DINPro-Regular" panose="020B0504020101020102" pitchFamily="34" charset="0"/>
              </a:rPr>
              <a:t>○ ASSUMED</a:t>
            </a:r>
          </a:p>
        </p:txBody>
      </p:sp>
      <p:sp>
        <p:nvSpPr>
          <p:cNvPr id="132" name="TextBox 131">
            <a:extLst>
              <a:ext uri="{FF2B5EF4-FFF2-40B4-BE49-F238E27FC236}">
                <a16:creationId xmlns:a16="http://schemas.microsoft.com/office/drawing/2014/main" id="{8B0EC82A-C4E2-09D7-58E9-6333D77C6244}"/>
              </a:ext>
            </a:extLst>
          </p:cNvPr>
          <p:cNvSpPr txBox="1"/>
          <p:nvPr/>
        </p:nvSpPr>
        <p:spPr>
          <a:xfrm>
            <a:off x="8677330" y="5803392"/>
            <a:ext cx="894476" cy="184666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600" b="0">
                <a:solidFill>
                  <a:srgbClr val="696F7C"/>
                </a:solidFill>
                <a:latin typeface="DINPro-Regular" panose="020B0504020101020102" pitchFamily="34" charset="0"/>
              </a:rPr>
              <a:t>Purpose explanations may
reduce uncertainty.</a:t>
            </a:r>
          </a:p>
        </p:txBody>
      </p:sp>
      <p:sp>
        <p:nvSpPr>
          <p:cNvPr id="133" name="TextBox 132">
            <a:extLst>
              <a:ext uri="{FF2B5EF4-FFF2-40B4-BE49-F238E27FC236}">
                <a16:creationId xmlns:a16="http://schemas.microsoft.com/office/drawing/2014/main" id="{20229679-FB48-B4DC-79C1-0BE60D1EFD2E}"/>
              </a:ext>
            </a:extLst>
          </p:cNvPr>
          <p:cNvSpPr txBox="1"/>
          <p:nvPr/>
        </p:nvSpPr>
        <p:spPr>
          <a:xfrm>
            <a:off x="9672325" y="5611368"/>
            <a:ext cx="436017" cy="9387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610">
                <a:solidFill>
                  <a:srgbClr val="141924"/>
                </a:solidFill>
                <a:latin typeface="DINPro-Regular" panose="020B0504020101020102" pitchFamily="34" charset="0"/>
              </a:rPr>
              <a:t>○ ASSUMED</a:t>
            </a:r>
          </a:p>
        </p:txBody>
      </p:sp>
      <p:sp>
        <p:nvSpPr>
          <p:cNvPr id="134" name="TextBox 133">
            <a:extLst>
              <a:ext uri="{FF2B5EF4-FFF2-40B4-BE49-F238E27FC236}">
                <a16:creationId xmlns:a16="http://schemas.microsoft.com/office/drawing/2014/main" id="{CEDFEA1C-EBB3-0142-4FC1-0AD4C24CF88A}"/>
              </a:ext>
            </a:extLst>
          </p:cNvPr>
          <p:cNvSpPr txBox="1"/>
          <p:nvPr/>
        </p:nvSpPr>
        <p:spPr>
          <a:xfrm>
            <a:off x="9672325" y="5803392"/>
            <a:ext cx="891270" cy="184666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600" b="0">
                <a:solidFill>
                  <a:srgbClr val="696F7C"/>
                </a:solidFill>
                <a:latin typeface="DINPro-Regular" panose="020B0504020101020102" pitchFamily="34" charset="0"/>
              </a:rPr>
              <a:t>Recovery dependency may
be critical.</a:t>
            </a:r>
          </a:p>
        </p:txBody>
      </p:sp>
      <p:sp>
        <p:nvSpPr>
          <p:cNvPr id="135" name="TextBox 134">
            <a:extLst>
              <a:ext uri="{FF2B5EF4-FFF2-40B4-BE49-F238E27FC236}">
                <a16:creationId xmlns:a16="http://schemas.microsoft.com/office/drawing/2014/main" id="{0383D476-C073-634F-8471-88B5E26AC439}"/>
              </a:ext>
            </a:extLst>
          </p:cNvPr>
          <p:cNvSpPr txBox="1"/>
          <p:nvPr/>
        </p:nvSpPr>
        <p:spPr>
          <a:xfrm>
            <a:off x="10683118" y="5611368"/>
            <a:ext cx="477695" cy="9387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610">
                <a:solidFill>
                  <a:srgbClr val="141924"/>
                </a:solidFill>
                <a:latin typeface="DINPro-Regular" panose="020B0504020101020102" pitchFamily="34" charset="0"/>
              </a:rPr>
              <a:t>◇ DESIGNED</a:t>
            </a:r>
          </a:p>
        </p:txBody>
      </p:sp>
      <p:sp>
        <p:nvSpPr>
          <p:cNvPr id="136" name="TextBox 135">
            <a:extLst>
              <a:ext uri="{FF2B5EF4-FFF2-40B4-BE49-F238E27FC236}">
                <a16:creationId xmlns:a16="http://schemas.microsoft.com/office/drawing/2014/main" id="{249456E9-219A-9374-DAA4-4F717BA9A4EC}"/>
              </a:ext>
            </a:extLst>
          </p:cNvPr>
          <p:cNvSpPr txBox="1"/>
          <p:nvPr/>
        </p:nvSpPr>
        <p:spPr>
          <a:xfrm>
            <a:off x="10683118" y="5803392"/>
            <a:ext cx="966611" cy="184666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600" b="0">
                <a:solidFill>
                  <a:srgbClr val="696F7C"/>
                </a:solidFill>
                <a:latin typeface="DINPro-Regular" panose="020B0504020101020102" pitchFamily="34" charset="0"/>
              </a:rPr>
              <a:t>Show attribute → purpose
→ recipient before approval.</a:t>
            </a:r>
          </a:p>
        </p:txBody>
      </p:sp>
      <p:cxnSp>
        <p:nvCxnSpPr>
          <p:cNvPr id="141" name="Connector 115">
            <a:extLst>
              <a:ext uri="{FF2B5EF4-FFF2-40B4-BE49-F238E27FC236}">
                <a16:creationId xmlns:a16="http://schemas.microsoft.com/office/drawing/2014/main" id="{DEE9573F-EFA0-1C89-3A65-4C71BF104DD2}"/>
              </a:ext>
            </a:extLst>
          </p:cNvPr>
          <p:cNvCxnSpPr/>
          <p:nvPr/>
        </p:nvCxnSpPr>
        <p:spPr>
          <a:xfrm>
            <a:off x="502920" y="6251448"/>
            <a:ext cx="11183112" cy="0"/>
          </a:xfrm>
          <a:prstGeom prst="line">
            <a:avLst/>
          </a:prstGeom>
          <a:ln w="6350">
            <a:solidFill>
              <a:srgbClr val="DCE0E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42" name="TextBox 141">
            <a:extLst>
              <a:ext uri="{FF2B5EF4-FFF2-40B4-BE49-F238E27FC236}">
                <a16:creationId xmlns:a16="http://schemas.microsoft.com/office/drawing/2014/main" id="{5E50A5A2-5D17-8AAE-59C7-4779495E1EEE}"/>
              </a:ext>
            </a:extLst>
          </p:cNvPr>
          <p:cNvSpPr txBox="1"/>
          <p:nvPr/>
        </p:nvSpPr>
        <p:spPr>
          <a:xfrm>
            <a:off x="502920" y="6346184"/>
            <a:ext cx="524182" cy="19082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620" b="1" dirty="0">
                <a:solidFill>
                  <a:srgbClr val="696F7C"/>
                </a:solidFill>
                <a:latin typeface="DINPro-Regular" panose="020B0504020101020102" pitchFamily="34" charset="0"/>
              </a:rPr>
              <a:t>EVIDENCE</a:t>
            </a:r>
            <a:br>
              <a:rPr lang="de-CH" sz="620" b="1" dirty="0">
                <a:solidFill>
                  <a:srgbClr val="696F7C"/>
                </a:solidFill>
                <a:latin typeface="DINPro-Regular" panose="020B0504020101020102" pitchFamily="34" charset="0"/>
              </a:rPr>
            </a:br>
            <a:r>
              <a:rPr sz="620" b="1" dirty="0">
                <a:solidFill>
                  <a:srgbClr val="696F7C"/>
                </a:solidFill>
                <a:latin typeface="DINPro-Regular" panose="020B0504020101020102" pitchFamily="34" charset="0"/>
              </a:rPr>
              <a:t>PROVENANCE</a:t>
            </a:r>
          </a:p>
        </p:txBody>
      </p:sp>
      <p:sp>
        <p:nvSpPr>
          <p:cNvPr id="143" name="TextBox 142">
            <a:extLst>
              <a:ext uri="{FF2B5EF4-FFF2-40B4-BE49-F238E27FC236}">
                <a16:creationId xmlns:a16="http://schemas.microsoft.com/office/drawing/2014/main" id="{B4762853-6A7A-E2DC-4364-220842A8A2D4}"/>
              </a:ext>
            </a:extLst>
          </p:cNvPr>
          <p:cNvSpPr txBox="1"/>
          <p:nvPr/>
        </p:nvSpPr>
        <p:spPr>
          <a:xfrm>
            <a:off x="1439278" y="6346184"/>
            <a:ext cx="1824217" cy="9848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640" dirty="0">
                <a:solidFill>
                  <a:srgbClr val="696F7C"/>
                </a:solidFill>
                <a:latin typeface="DINPro-Regular" panose="020B0504020101020102" pitchFamily="34" charset="0"/>
              </a:rPr>
              <a:t>● Observed   ◐ Inferred   ○ Assumed   ◇ Designed</a:t>
            </a:r>
          </a:p>
        </p:txBody>
      </p:sp>
      <p:sp>
        <p:nvSpPr>
          <p:cNvPr id="144" name="TextBox 143">
            <a:extLst>
              <a:ext uri="{FF2B5EF4-FFF2-40B4-BE49-F238E27FC236}">
                <a16:creationId xmlns:a16="http://schemas.microsoft.com/office/drawing/2014/main" id="{135067AD-7F6E-76C0-8F19-71375071CDB0}"/>
              </a:ext>
            </a:extLst>
          </p:cNvPr>
          <p:cNvSpPr txBox="1"/>
          <p:nvPr/>
        </p:nvSpPr>
        <p:spPr>
          <a:xfrm>
            <a:off x="4881567" y="6346184"/>
            <a:ext cx="763029" cy="954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620" b="1" dirty="0">
                <a:solidFill>
                  <a:srgbClr val="696F7C"/>
                </a:solidFill>
                <a:latin typeface="DINPro-Regular" panose="020B0504020101020102" pitchFamily="34" charset="0"/>
              </a:rPr>
              <a:t>VALIDATION STATUS</a:t>
            </a:r>
          </a:p>
        </p:txBody>
      </p:sp>
      <p:sp>
        <p:nvSpPr>
          <p:cNvPr id="145" name="TextBox 144">
            <a:extLst>
              <a:ext uri="{FF2B5EF4-FFF2-40B4-BE49-F238E27FC236}">
                <a16:creationId xmlns:a16="http://schemas.microsoft.com/office/drawing/2014/main" id="{A9ECC0B3-EA82-A4F5-DC58-8CAA236616EF}"/>
              </a:ext>
            </a:extLst>
          </p:cNvPr>
          <p:cNvSpPr txBox="1"/>
          <p:nvPr/>
        </p:nvSpPr>
        <p:spPr>
          <a:xfrm>
            <a:off x="6024567" y="6346184"/>
            <a:ext cx="1662315" cy="10002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640" dirty="0">
                <a:solidFill>
                  <a:srgbClr val="696F7C"/>
                </a:solidFill>
                <a:latin typeface="DINPro-Regular" panose="020B0504020101020102" pitchFamily="34" charset="0"/>
              </a:rPr>
              <a:t>Untested  →  Tested  →  Supported / Refuted</a:t>
            </a:r>
          </a:p>
        </p:txBody>
      </p:sp>
      <p:sp>
        <p:nvSpPr>
          <p:cNvPr id="146" name="TextBox 145">
            <a:extLst>
              <a:ext uri="{FF2B5EF4-FFF2-40B4-BE49-F238E27FC236}">
                <a16:creationId xmlns:a16="http://schemas.microsoft.com/office/drawing/2014/main" id="{98736E4B-01CA-66A9-445C-F4D474C53A56}"/>
              </a:ext>
            </a:extLst>
          </p:cNvPr>
          <p:cNvSpPr txBox="1"/>
          <p:nvPr/>
        </p:nvSpPr>
        <p:spPr>
          <a:xfrm>
            <a:off x="9972117" y="6346184"/>
            <a:ext cx="1519647" cy="9848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640" b="0" dirty="0">
                <a:solidFill>
                  <a:srgbClr val="696F7C"/>
                </a:solidFill>
                <a:latin typeface="DINPro-Regular" panose="020B0504020101020102" pitchFamily="34" charset="0"/>
              </a:rPr>
              <a:t>Designed → Test → Learn → update map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62</TotalTime>
  <Words>511</Words>
  <Application>Microsoft Macintosh PowerPoint</Application>
  <PresentationFormat>Widescreen</PresentationFormat>
  <Paragraphs>109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Aptos</vt:lpstr>
      <vt:lpstr>Arial</vt:lpstr>
      <vt:lpstr>Calibri</vt:lpstr>
      <vt:lpstr>DINPro</vt:lpstr>
      <vt:lpstr>DINPro-Regular</vt:lpstr>
      <vt:lpstr>Office Theme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Daniel Glinz</cp:lastModifiedBy>
  <cp:revision>7</cp:revision>
  <dcterms:created xsi:type="dcterms:W3CDTF">2013-01-27T09:14:16Z</dcterms:created>
  <dcterms:modified xsi:type="dcterms:W3CDTF">2026-08-19T11:09:57Z</dcterms:modified>
  <cp:category/>
</cp:coreProperties>
</file>